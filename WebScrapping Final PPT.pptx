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8288000" cy="10287000"/>
  <p:notesSz cx="6858000" cy="9144000"/>
  <p:embeddedFontLst>
    <p:embeddedFont>
      <p:font typeface="Calibri (MS) Bold" panose="020F0702030404030204"/>
      <p:bold r:id="rId16"/>
    </p:embeddedFont>
    <p:embeddedFont>
      <p:font typeface="Calibri (MS)" panose="020F0502020204030204"/>
      <p:regular r:id="rId17"/>
    </p:embeddedFont>
    <p:embeddedFont>
      <p:font typeface="Canva Sans Bold" panose="020B0803030501040103"/>
      <p:bold r:id="rId18"/>
    </p:embeddedFont>
    <p:embeddedFont>
      <p:font typeface="Poppins Medium" panose="00000600000000000000"/>
      <p:regular r:id="rId19"/>
    </p:embeddedFont>
    <p:embeddedFont>
      <p:font typeface="Canva Sans" panose="020B0503030501040103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2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8"/>
        <p:guide pos="28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8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709761" y="3139430"/>
            <a:ext cx="9907898" cy="9907898"/>
          </a:xfrm>
          <a:custGeom>
            <a:avLst/>
            <a:gdLst/>
            <a:ahLst/>
            <a:cxnLst/>
            <a:rect l="l" t="t" r="r" b="b"/>
            <a:pathLst>
              <a:path w="9907898" h="9907898">
                <a:moveTo>
                  <a:pt x="0" y="0"/>
                </a:moveTo>
                <a:lnTo>
                  <a:pt x="9907898" y="0"/>
                </a:lnTo>
                <a:lnTo>
                  <a:pt x="9907898" y="9907898"/>
                </a:lnTo>
                <a:lnTo>
                  <a:pt x="0" y="990789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2793261"/>
            <a:ext cx="9270020" cy="436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Web Scrapping: Data Extraction from WebPage</a:t>
            </a:r>
            <a:endParaRPr lang="en-US" sz="8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298720" y="5143500"/>
            <a:ext cx="7230206" cy="2958555"/>
          </a:xfrm>
          <a:custGeom>
            <a:avLst/>
            <a:gdLst/>
            <a:ahLst/>
            <a:cxnLst/>
            <a:rect l="l" t="t" r="r" b="b"/>
            <a:pathLst>
              <a:path w="7230206" h="2958555">
                <a:moveTo>
                  <a:pt x="0" y="0"/>
                </a:moveTo>
                <a:lnTo>
                  <a:pt x="7230206" y="0"/>
                </a:lnTo>
                <a:lnTo>
                  <a:pt x="7230206" y="2958555"/>
                </a:lnTo>
                <a:lnTo>
                  <a:pt x="0" y="2958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2" b="-123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172871" y="908717"/>
            <a:ext cx="2258368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EVOASTRA</a:t>
            </a:r>
            <a:endParaRPr lang="en-US" sz="2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61947" y="8297028"/>
            <a:ext cx="655573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60"/>
              </a:lnSpc>
            </a:pPr>
            <a:r>
              <a:rPr lang="en-US" sz="34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Presented by: Evoastra Team-D</a:t>
            </a:r>
            <a:endParaRPr lang="en-US" sz="34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709761" y="3139430"/>
            <a:ext cx="9907898" cy="9907898"/>
          </a:xfrm>
          <a:custGeom>
            <a:avLst/>
            <a:gdLst/>
            <a:ahLst/>
            <a:cxnLst/>
            <a:rect l="l" t="t" r="r" b="b"/>
            <a:pathLst>
              <a:path w="9907898" h="9907898">
                <a:moveTo>
                  <a:pt x="0" y="0"/>
                </a:moveTo>
                <a:lnTo>
                  <a:pt x="9907898" y="0"/>
                </a:lnTo>
                <a:lnTo>
                  <a:pt x="9907898" y="9907898"/>
                </a:lnTo>
                <a:lnTo>
                  <a:pt x="0" y="9907898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5172871" y="908717"/>
            <a:ext cx="2258368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EVOASTRA</a:t>
            </a:r>
            <a:endParaRPr lang="en-US" sz="2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03986" y="460636"/>
            <a:ext cx="3946922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Introduction</a:t>
            </a:r>
            <a:endParaRPr lang="en-US" sz="6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64105" y="2327427"/>
            <a:ext cx="9006863" cy="7700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Web scraping is the automated process of extracting data from websites using software. It transforms unstructured data on the web (HTML) into structured data (CSV, JSON, Database).</a:t>
            </a:r>
            <a:endParaRPr lang="en-US" sz="36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How it Works:</a:t>
            </a:r>
            <a:endParaRPr lang="en-US" sz="36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Request:</a:t>
            </a:r>
            <a:r>
              <a:rPr lang="en-US" sz="36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Script sends HTTP request to URL.</a:t>
            </a:r>
            <a:endParaRPr lang="en-US" sz="36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Response:</a:t>
            </a:r>
            <a:r>
              <a:rPr lang="en-US" sz="36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Server returns HTML content.</a:t>
            </a:r>
            <a:endParaRPr lang="en-US" sz="36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Parse:</a:t>
            </a:r>
            <a:r>
              <a:rPr lang="en-US" sz="36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Script navigates the DOM tree.</a:t>
            </a:r>
            <a:endParaRPr lang="en-US" sz="36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77240" lvl="1" indent="-388620" algn="just">
              <a:lnSpc>
                <a:spcPts val="5040"/>
              </a:lnSpc>
              <a:buFont typeface="Arial" panose="020B0604020202020204"/>
              <a:buChar char="•"/>
            </a:pPr>
            <a:r>
              <a:rPr lang="en-US" sz="36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Extract:</a:t>
            </a:r>
            <a:r>
              <a:rPr lang="en-US" sz="36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Specific data points are saved.</a:t>
            </a:r>
            <a:endParaRPr lang="en-US" sz="36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040"/>
              </a:lnSpc>
            </a:pPr>
          </a:p>
        </p:txBody>
      </p:sp>
      <p:sp>
        <p:nvSpPr>
          <p:cNvPr id="9" name="Freeform 9"/>
          <p:cNvSpPr/>
          <p:nvPr/>
        </p:nvSpPr>
        <p:spPr>
          <a:xfrm>
            <a:off x="10686033" y="4110524"/>
            <a:ext cx="6889226" cy="3982855"/>
          </a:xfrm>
          <a:custGeom>
            <a:avLst/>
            <a:gdLst/>
            <a:ahLst/>
            <a:cxnLst/>
            <a:rect l="l" t="t" r="r" b="b"/>
            <a:pathLst>
              <a:path w="6889226" h="3982855">
                <a:moveTo>
                  <a:pt x="0" y="0"/>
                </a:moveTo>
                <a:lnTo>
                  <a:pt x="6889226" y="0"/>
                </a:lnTo>
                <a:lnTo>
                  <a:pt x="6889226" y="3982855"/>
                </a:lnTo>
                <a:lnTo>
                  <a:pt x="0" y="39828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37" r="-2437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55507" y="2143184"/>
            <a:ext cx="12031940" cy="668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0085" lvl="1" indent="-339725" algn="just">
              <a:lnSpc>
                <a:spcPts val="4410"/>
              </a:lnSpc>
              <a:buAutoNum type="arabicPeriod"/>
            </a:pP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Market Research</a:t>
            </a:r>
            <a:endParaRPr lang="en-US" sz="31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4410"/>
              </a:lnSpc>
            </a:pP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   </a:t>
            </a: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Monitoring competitor pricing, analyzing market trends, and gathering sentiment analysis data from social media.</a:t>
            </a:r>
            <a:endParaRPr lang="en-US" sz="31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4410"/>
              </a:lnSpc>
            </a:pPr>
          </a:p>
          <a:p>
            <a:pPr algn="just">
              <a:lnSpc>
                <a:spcPts val="4410"/>
              </a:lnSpc>
            </a:pP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2. </a:t>
            </a: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News Aggregation</a:t>
            </a:r>
            <a:endParaRPr lang="en-US" sz="31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4410"/>
              </a:lnSpc>
            </a:pP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  </a:t>
            </a: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Collecting headlines and articles from various news sources to build curated feeds or for financial analysis.</a:t>
            </a:r>
            <a:endParaRPr lang="en-US" sz="31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4410"/>
              </a:lnSpc>
            </a:pPr>
          </a:p>
          <a:p>
            <a:pPr algn="just">
              <a:lnSpc>
                <a:spcPts val="4410"/>
              </a:lnSpc>
            </a:pP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3. </a:t>
            </a: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Lead Generation</a:t>
            </a:r>
            <a:endParaRPr lang="en-US" sz="31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4410"/>
              </a:lnSpc>
            </a:pP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  </a:t>
            </a:r>
            <a:r>
              <a:rPr lang="en-US" sz="315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Extracting contact details from business directories and listings to fuel sales pipelines and marketing campaigns.</a:t>
            </a:r>
            <a:endParaRPr lang="en-US" sz="315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4410"/>
              </a:lnSpc>
            </a:pPr>
          </a:p>
        </p:txBody>
      </p:sp>
      <p:sp>
        <p:nvSpPr>
          <p:cNvPr id="6" name="Freeform 6"/>
          <p:cNvSpPr/>
          <p:nvPr/>
        </p:nvSpPr>
        <p:spPr>
          <a:xfrm>
            <a:off x="13201617" y="2276534"/>
            <a:ext cx="3549992" cy="1832683"/>
          </a:xfrm>
          <a:custGeom>
            <a:avLst/>
            <a:gdLst/>
            <a:ahLst/>
            <a:cxnLst/>
            <a:rect l="l" t="t" r="r" b="b"/>
            <a:pathLst>
              <a:path w="3549992" h="1832683">
                <a:moveTo>
                  <a:pt x="0" y="0"/>
                </a:moveTo>
                <a:lnTo>
                  <a:pt x="3549992" y="0"/>
                </a:lnTo>
                <a:lnTo>
                  <a:pt x="3549992" y="1832684"/>
                </a:lnTo>
                <a:lnTo>
                  <a:pt x="0" y="1832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1525" y="8375741"/>
            <a:ext cx="3070884" cy="1726118"/>
          </a:xfrm>
          <a:custGeom>
            <a:avLst/>
            <a:gdLst/>
            <a:ahLst/>
            <a:cxnLst/>
            <a:rect l="l" t="t" r="r" b="b"/>
            <a:pathLst>
              <a:path w="3070884" h="1726118">
                <a:moveTo>
                  <a:pt x="0" y="0"/>
                </a:moveTo>
                <a:lnTo>
                  <a:pt x="3070885" y="0"/>
                </a:lnTo>
                <a:lnTo>
                  <a:pt x="3070885" y="1726118"/>
                </a:lnTo>
                <a:lnTo>
                  <a:pt x="0" y="17261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033024" y="7689600"/>
            <a:ext cx="4016507" cy="2344636"/>
          </a:xfrm>
          <a:custGeom>
            <a:avLst/>
            <a:gdLst/>
            <a:ahLst/>
            <a:cxnLst/>
            <a:rect l="l" t="t" r="r" b="b"/>
            <a:pathLst>
              <a:path w="4016507" h="2344636">
                <a:moveTo>
                  <a:pt x="0" y="0"/>
                </a:moveTo>
                <a:lnTo>
                  <a:pt x="4016507" y="0"/>
                </a:lnTo>
                <a:lnTo>
                  <a:pt x="4016507" y="2344636"/>
                </a:lnTo>
                <a:lnTo>
                  <a:pt x="0" y="2344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172871" y="908717"/>
            <a:ext cx="2258368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EVOASTRA</a:t>
            </a:r>
            <a:endParaRPr lang="en-US" sz="2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91465" y="697230"/>
            <a:ext cx="1044892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Real World Applications</a:t>
            </a:r>
            <a:endParaRPr lang="en-US" sz="600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712406" y="-94962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509" y="2202077"/>
            <a:ext cx="13722339" cy="5447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Why Use Web Scraping?</a:t>
            </a:r>
            <a:endParaRPr lang="en-US" sz="34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l">
              <a:lnSpc>
                <a:spcPts val="4760"/>
              </a:lnSpc>
            </a:p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Speed &amp; Automation:</a:t>
            </a:r>
            <a:r>
              <a:rPr lang="en-US" sz="3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Scripts can process thousands of pages in minutes, a task that would take humans days.</a:t>
            </a:r>
            <a:endParaRPr lang="en-US" sz="3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Cost-Effective:</a:t>
            </a:r>
            <a:r>
              <a:rPr lang="en-US" sz="3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Reduces the need for large manual data entry teams.</a:t>
            </a:r>
            <a:endParaRPr lang="en-US" sz="3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Accuracy:</a:t>
            </a:r>
            <a:r>
              <a:rPr lang="en-US" sz="3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Eliminates human error in data collection and entry.</a:t>
            </a:r>
            <a:endParaRPr lang="en-US" sz="3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734060" lvl="1" indent="-367030" algn="l">
              <a:lnSpc>
                <a:spcPts val="4760"/>
              </a:lnSpc>
              <a:buFont typeface="Arial" panose="020B0604020202020204"/>
              <a:buChar char="•"/>
            </a:pPr>
            <a:r>
              <a:rPr lang="en-US" sz="34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Real-Time Data:</a:t>
            </a:r>
            <a:r>
              <a:rPr lang="en-US" sz="34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Enables access to the freshest data available on the web instantly.</a:t>
            </a:r>
            <a:endParaRPr lang="en-US" sz="34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4760"/>
              </a:lnSpc>
            </a:pPr>
          </a:p>
        </p:txBody>
      </p:sp>
      <p:sp>
        <p:nvSpPr>
          <p:cNvPr id="6" name="Freeform 6"/>
          <p:cNvSpPr/>
          <p:nvPr/>
        </p:nvSpPr>
        <p:spPr>
          <a:xfrm>
            <a:off x="6206462" y="312745"/>
            <a:ext cx="1500432" cy="1459929"/>
          </a:xfrm>
          <a:custGeom>
            <a:avLst/>
            <a:gdLst/>
            <a:ahLst/>
            <a:cxnLst/>
            <a:rect l="l" t="t" r="r" b="b"/>
            <a:pathLst>
              <a:path w="1500432" h="1459929">
                <a:moveTo>
                  <a:pt x="0" y="0"/>
                </a:moveTo>
                <a:lnTo>
                  <a:pt x="1500432" y="0"/>
                </a:lnTo>
                <a:lnTo>
                  <a:pt x="1500432" y="1459928"/>
                </a:lnTo>
                <a:lnTo>
                  <a:pt x="0" y="1459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337" t="-71411" r="-26423" b="-70405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277846" y="2638573"/>
            <a:ext cx="2752883" cy="1782492"/>
          </a:xfrm>
          <a:custGeom>
            <a:avLst/>
            <a:gdLst/>
            <a:ahLst/>
            <a:cxnLst/>
            <a:rect l="l" t="t" r="r" b="b"/>
            <a:pathLst>
              <a:path w="2752883" h="1782492">
                <a:moveTo>
                  <a:pt x="0" y="0"/>
                </a:moveTo>
                <a:lnTo>
                  <a:pt x="2752883" y="0"/>
                </a:lnTo>
                <a:lnTo>
                  <a:pt x="2752883" y="1782491"/>
                </a:lnTo>
                <a:lnTo>
                  <a:pt x="0" y="1782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17848" y="5350892"/>
            <a:ext cx="1355023" cy="1082175"/>
          </a:xfrm>
          <a:custGeom>
            <a:avLst/>
            <a:gdLst/>
            <a:ahLst/>
            <a:cxnLst/>
            <a:rect l="l" t="t" r="r" b="b"/>
            <a:pathLst>
              <a:path w="1355023" h="1082175">
                <a:moveTo>
                  <a:pt x="0" y="0"/>
                </a:moveTo>
                <a:lnTo>
                  <a:pt x="1355023" y="0"/>
                </a:lnTo>
                <a:lnTo>
                  <a:pt x="1355023" y="1082175"/>
                </a:lnTo>
                <a:lnTo>
                  <a:pt x="0" y="1082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437" r="-2508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998521" y="7698433"/>
            <a:ext cx="2729826" cy="1843442"/>
          </a:xfrm>
          <a:custGeom>
            <a:avLst/>
            <a:gdLst/>
            <a:ahLst/>
            <a:cxnLst/>
            <a:rect l="l" t="t" r="r" b="b"/>
            <a:pathLst>
              <a:path w="2729826" h="1843442">
                <a:moveTo>
                  <a:pt x="0" y="0"/>
                </a:moveTo>
                <a:lnTo>
                  <a:pt x="2729826" y="0"/>
                </a:lnTo>
                <a:lnTo>
                  <a:pt x="2729826" y="1843443"/>
                </a:lnTo>
                <a:lnTo>
                  <a:pt x="0" y="18434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5431" b="-5431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172871" y="908717"/>
            <a:ext cx="2258368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EVOASTRA</a:t>
            </a:r>
            <a:endParaRPr lang="en-US" sz="2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542295" y="120079"/>
            <a:ext cx="8391606" cy="133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sz="7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Necessity</a:t>
            </a:r>
            <a:endParaRPr lang="en-US" sz="7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8188955" y="238822"/>
            <a:ext cx="1364870" cy="1364870"/>
          </a:xfrm>
          <a:custGeom>
            <a:avLst/>
            <a:gdLst/>
            <a:ahLst/>
            <a:cxnLst/>
            <a:rect l="l" t="t" r="r" b="b"/>
            <a:pathLst>
              <a:path w="1364870" h="1364870">
                <a:moveTo>
                  <a:pt x="0" y="0"/>
                </a:moveTo>
                <a:lnTo>
                  <a:pt x="1364870" y="0"/>
                </a:lnTo>
                <a:lnTo>
                  <a:pt x="1364870" y="1364871"/>
                </a:lnTo>
                <a:lnTo>
                  <a:pt x="0" y="1364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277846" y="2308539"/>
            <a:ext cx="1591188" cy="1591188"/>
          </a:xfrm>
          <a:custGeom>
            <a:avLst/>
            <a:gdLst/>
            <a:ahLst/>
            <a:cxnLst/>
            <a:rect l="l" t="t" r="r" b="b"/>
            <a:pathLst>
              <a:path w="1591188" h="1591188">
                <a:moveTo>
                  <a:pt x="0" y="0"/>
                </a:moveTo>
                <a:lnTo>
                  <a:pt x="1591188" y="0"/>
                </a:lnTo>
                <a:lnTo>
                  <a:pt x="1591188" y="1591188"/>
                </a:lnTo>
                <a:lnTo>
                  <a:pt x="0" y="1591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37804" y="1950395"/>
            <a:ext cx="10024423" cy="805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0"/>
              </a:lnSpc>
            </a:pPr>
          </a:p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Legal &amp; Ethical Issues:</a:t>
            </a:r>
            <a:r>
              <a:rPr lang="en-US" sz="3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Not all websites allow scraping. Always check robots.txt and Terms of Service.</a:t>
            </a:r>
            <a:endParaRPr lang="en-US" sz="3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Anti-Scraping Measures:</a:t>
            </a:r>
            <a:r>
              <a:rPr lang="en-US" sz="3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Websites implement IP bans, CAPTCHAs, and honey traps to block bots.</a:t>
            </a:r>
            <a:endParaRPr lang="en-US" sz="3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Structure Changes:</a:t>
            </a:r>
            <a:r>
              <a:rPr lang="en-US" sz="3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If a website updates its HTML structure, the scraper will break and require maintenance.</a:t>
            </a:r>
            <a:endParaRPr lang="en-US" sz="3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5320"/>
              </a:lnSpc>
            </a:pPr>
            <a:r>
              <a:rPr lang="en-US" sz="38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Data Quality:</a:t>
            </a:r>
            <a:r>
              <a:rPr lang="en-US" sz="3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 Extracted data often requires significant cleaning and normalization.</a:t>
            </a:r>
            <a:endParaRPr lang="en-US" sz="3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l">
              <a:lnSpc>
                <a:spcPts val="532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2773133" y="6589898"/>
            <a:ext cx="3921643" cy="2935933"/>
          </a:xfrm>
          <a:custGeom>
            <a:avLst/>
            <a:gdLst/>
            <a:ahLst/>
            <a:cxnLst/>
            <a:rect l="l" t="t" r="r" b="b"/>
            <a:pathLst>
              <a:path w="3921643" h="2935933">
                <a:moveTo>
                  <a:pt x="0" y="0"/>
                </a:moveTo>
                <a:lnTo>
                  <a:pt x="3921643" y="0"/>
                </a:lnTo>
                <a:lnTo>
                  <a:pt x="3921643" y="2935932"/>
                </a:lnTo>
                <a:lnTo>
                  <a:pt x="0" y="29359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172871" y="908717"/>
            <a:ext cx="2258368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EVOASTRA</a:t>
            </a:r>
            <a:endParaRPr lang="en-US" sz="2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09667" y="573722"/>
            <a:ext cx="603319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Challenges &amp; Risks </a:t>
            </a:r>
            <a:endParaRPr lang="en-US" sz="6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72871" y="946817"/>
            <a:ext cx="2258368" cy="50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rPr>
              <a:t>EVOASTRA</a:t>
            </a:r>
            <a:endParaRPr lang="en-US" sz="2800" b="1">
              <a:solidFill>
                <a:srgbClr val="FFFFFF"/>
              </a:solidFill>
              <a:latin typeface="Poppins Medium" panose="00000600000000000000"/>
              <a:ea typeface="Poppins Medium" panose="00000600000000000000"/>
              <a:cs typeface="Poppins Medium" panose="00000600000000000000"/>
              <a:sym typeface="Poppins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99527" y="2235225"/>
            <a:ext cx="9375107" cy="569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600"/>
              </a:lnSpc>
            </a:pPr>
          </a:p>
          <a:p>
            <a:pPr algn="just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Parsing HTML</a:t>
            </a:r>
            <a:endParaRPr lang="en-US" sz="4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marL="863600" lvl="1" indent="-431800" algn="just">
              <a:lnSpc>
                <a:spcPts val="5600"/>
              </a:lnSpc>
              <a:buFont typeface="Arial" panose="020B0604020202020204"/>
              <a:buChar char="•"/>
            </a:pPr>
            <a:r>
              <a:rPr lang="en-US" sz="4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BeautifulSoup </a:t>
            </a:r>
            <a:r>
              <a:rPr lang="en-US" sz="4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is a Python library for pulling </a:t>
            </a:r>
            <a:r>
              <a:rPr lang="en-US" sz="4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data out of HTML and XML files. It is perfect for static pages where data is present in the source code.</a:t>
            </a:r>
            <a:endParaRPr lang="en-US" sz="40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marL="863600" lvl="1" indent="-431800" algn="just">
              <a:lnSpc>
                <a:spcPts val="5600"/>
              </a:lnSpc>
              <a:buFont typeface="Arial" panose="020B0604020202020204"/>
              <a:buChar char="•"/>
            </a:pPr>
            <a:r>
              <a:rPr lang="en-US" sz="40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It creates a parse tree that can be used to extract data easily.</a:t>
            </a:r>
            <a:endParaRPr lang="en-US" sz="40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877482" y="4892291"/>
            <a:ext cx="6074715" cy="3105051"/>
          </a:xfrm>
          <a:custGeom>
            <a:avLst/>
            <a:gdLst/>
            <a:ahLst/>
            <a:cxnLst/>
            <a:rect l="l" t="t" r="r" b="b"/>
            <a:pathLst>
              <a:path w="6074715" h="3105051">
                <a:moveTo>
                  <a:pt x="0" y="0"/>
                </a:moveTo>
                <a:lnTo>
                  <a:pt x="6074715" y="0"/>
                </a:lnTo>
                <a:lnTo>
                  <a:pt x="6074715" y="3105051"/>
                </a:lnTo>
                <a:lnTo>
                  <a:pt x="0" y="3105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3" t="-2696" r="-11123" b="-756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99527" y="610600"/>
            <a:ext cx="9979350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Static Scraping: BeautifulSoup</a:t>
            </a:r>
            <a:endParaRPr lang="en-US" sz="6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72871" y="908717"/>
            <a:ext cx="2258368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EVOASTRA</a:t>
            </a:r>
            <a:endParaRPr lang="en-US" sz="2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21774" y="512445"/>
            <a:ext cx="10840096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Dyn</a:t>
            </a:r>
            <a:r>
              <a:rPr lang="en-US" sz="60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amic Scraping: Selenium</a:t>
            </a:r>
            <a:endParaRPr lang="en-US" sz="60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21774" y="2184931"/>
            <a:ext cx="10060630" cy="5389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320"/>
              </a:lnSpc>
            </a:pPr>
            <a:r>
              <a:rPr lang="en-US" sz="38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Han</a:t>
            </a:r>
            <a:r>
              <a:rPr lang="en-US" sz="38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dling JavaScript</a:t>
            </a:r>
            <a:endParaRPr lang="en-US" sz="3800" b="1">
              <a:solidFill>
                <a:srgbClr val="FFFFFF"/>
              </a:solidFill>
              <a:latin typeface="Calibri (MS) Bold" panose="020F0702030404030204"/>
              <a:ea typeface="Calibri (MS) Bold" panose="020F0702030404030204"/>
              <a:cs typeface="Calibri (MS) Bold" panose="020F0702030404030204"/>
              <a:sym typeface="Calibri (MS) Bold" panose="020F0702030404030204"/>
            </a:endParaRPr>
          </a:p>
          <a:p>
            <a:pPr algn="just">
              <a:lnSpc>
                <a:spcPts val="5320"/>
              </a:lnSpc>
            </a:pPr>
            <a:r>
              <a:rPr lang="en-US" sz="3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Selenium automates web browsers. It is essential for websites that load data dynamically using JavaScript (React, Angular, etc.).</a:t>
            </a:r>
            <a:endParaRPr lang="en-US" sz="3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  <a:p>
            <a:pPr algn="just">
              <a:lnSpc>
                <a:spcPts val="5320"/>
              </a:lnSpc>
            </a:pPr>
          </a:p>
          <a:p>
            <a:pPr algn="just">
              <a:lnSpc>
                <a:spcPts val="5320"/>
              </a:lnSpc>
            </a:pPr>
            <a:r>
              <a:rPr lang="en-US" sz="3800" b="1">
                <a:solidFill>
                  <a:srgbClr val="FFFFFF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rPr>
              <a:t>Scrapy </a:t>
            </a:r>
            <a:r>
              <a:rPr lang="en-US" sz="3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is another powerful framework for large-scale crawling, offering built-in support for handling requests, pipelines, and data export.</a:t>
            </a:r>
            <a:endParaRPr lang="en-US" sz="3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1224689" y="3156143"/>
            <a:ext cx="6034611" cy="4228037"/>
          </a:xfrm>
          <a:custGeom>
            <a:avLst/>
            <a:gdLst/>
            <a:ahLst/>
            <a:cxnLst/>
            <a:rect l="l" t="t" r="r" b="b"/>
            <a:pathLst>
              <a:path w="6034611" h="4228037">
                <a:moveTo>
                  <a:pt x="0" y="0"/>
                </a:moveTo>
                <a:lnTo>
                  <a:pt x="6034611" y="0"/>
                </a:lnTo>
                <a:lnTo>
                  <a:pt x="6034611" y="4228037"/>
                </a:lnTo>
                <a:lnTo>
                  <a:pt x="0" y="42280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094"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00816" y="1598085"/>
            <a:ext cx="4854637" cy="1796598"/>
          </a:xfrm>
          <a:custGeom>
            <a:avLst/>
            <a:gdLst/>
            <a:ahLst/>
            <a:cxnLst/>
            <a:rect l="l" t="t" r="r" b="b"/>
            <a:pathLst>
              <a:path w="4854637" h="1796598">
                <a:moveTo>
                  <a:pt x="0" y="0"/>
                </a:moveTo>
                <a:lnTo>
                  <a:pt x="4854637" y="0"/>
                </a:lnTo>
                <a:lnTo>
                  <a:pt x="4854637" y="1796598"/>
                </a:lnTo>
                <a:lnTo>
                  <a:pt x="0" y="1796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00816" y="3895467"/>
            <a:ext cx="5258606" cy="3449837"/>
          </a:xfrm>
          <a:custGeom>
            <a:avLst/>
            <a:gdLst/>
            <a:ahLst/>
            <a:cxnLst/>
            <a:rect l="l" t="t" r="r" b="b"/>
            <a:pathLst>
              <a:path w="5258606" h="3449837">
                <a:moveTo>
                  <a:pt x="0" y="0"/>
                </a:moveTo>
                <a:lnTo>
                  <a:pt x="5258606" y="0"/>
                </a:lnTo>
                <a:lnTo>
                  <a:pt x="5258606" y="3449837"/>
                </a:lnTo>
                <a:lnTo>
                  <a:pt x="0" y="3449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85303" y="1817658"/>
            <a:ext cx="6383020" cy="5278749"/>
          </a:xfrm>
          <a:custGeom>
            <a:avLst/>
            <a:gdLst/>
            <a:ahLst/>
            <a:cxnLst/>
            <a:rect l="l" t="t" r="r" b="b"/>
            <a:pathLst>
              <a:path w="6383020" h="5278749">
                <a:moveTo>
                  <a:pt x="0" y="0"/>
                </a:moveTo>
                <a:lnTo>
                  <a:pt x="6383020" y="0"/>
                </a:lnTo>
                <a:lnTo>
                  <a:pt x="6383020" y="5278749"/>
                </a:lnTo>
                <a:lnTo>
                  <a:pt x="0" y="5278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24864" y="7516754"/>
            <a:ext cx="4357396" cy="2500056"/>
          </a:xfrm>
          <a:custGeom>
            <a:avLst/>
            <a:gdLst/>
            <a:ahLst/>
            <a:cxnLst/>
            <a:rect l="l" t="t" r="r" b="b"/>
            <a:pathLst>
              <a:path w="4357396" h="2500056">
                <a:moveTo>
                  <a:pt x="0" y="0"/>
                </a:moveTo>
                <a:lnTo>
                  <a:pt x="4357396" y="0"/>
                </a:lnTo>
                <a:lnTo>
                  <a:pt x="4357396" y="2500056"/>
                </a:lnTo>
                <a:lnTo>
                  <a:pt x="0" y="25000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864448" y="8166136"/>
            <a:ext cx="5649662" cy="941610"/>
          </a:xfrm>
          <a:custGeom>
            <a:avLst/>
            <a:gdLst/>
            <a:ahLst/>
            <a:cxnLst/>
            <a:rect l="l" t="t" r="r" b="b"/>
            <a:pathLst>
              <a:path w="5649662" h="941610">
                <a:moveTo>
                  <a:pt x="0" y="0"/>
                </a:moveTo>
                <a:lnTo>
                  <a:pt x="5649662" y="0"/>
                </a:lnTo>
                <a:lnTo>
                  <a:pt x="5649662" y="941611"/>
                </a:lnTo>
                <a:lnTo>
                  <a:pt x="0" y="9416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172871" y="908717"/>
            <a:ext cx="2258368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>
                <a:solidFill>
                  <a:srgbClr val="FFFFFF"/>
                </a:solidFill>
                <a:latin typeface="Calibri (MS)" panose="020F0502020204030204"/>
                <a:ea typeface="Calibri (MS)" panose="020F0502020204030204"/>
                <a:cs typeface="Calibri (MS)" panose="020F0502020204030204"/>
                <a:sym typeface="Calibri (MS)" panose="020F0502020204030204"/>
              </a:rPr>
              <a:t>EVOASTRA</a:t>
            </a:r>
            <a:endParaRPr lang="en-US" sz="2800">
              <a:solidFill>
                <a:srgbClr val="FFFFFF"/>
              </a:solidFill>
              <a:latin typeface="Calibri (MS)" panose="020F0502020204030204"/>
              <a:ea typeface="Calibri (MS)" panose="020F0502020204030204"/>
              <a:cs typeface="Calibri (MS)" panose="020F0502020204030204"/>
              <a:sym typeface="Calibri (MS)" panose="020F050202020403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537210"/>
            <a:ext cx="11473180" cy="933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Code Implementation</a:t>
            </a:r>
            <a:endParaRPr lang="en-US" sz="520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584353" y="5143500"/>
            <a:ext cx="3435405" cy="3435405"/>
          </a:xfrm>
          <a:custGeom>
            <a:avLst/>
            <a:gdLst/>
            <a:ahLst/>
            <a:cxnLst/>
            <a:rect l="l" t="t" r="r" b="b"/>
            <a:pathLst>
              <a:path w="3435405" h="3435405">
                <a:moveTo>
                  <a:pt x="0" y="0"/>
                </a:moveTo>
                <a:lnTo>
                  <a:pt x="3435404" y="0"/>
                </a:lnTo>
                <a:lnTo>
                  <a:pt x="3435404" y="3435405"/>
                </a:lnTo>
                <a:lnTo>
                  <a:pt x="0" y="3435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06912" y="2443597"/>
            <a:ext cx="13281788" cy="1880227"/>
          </a:xfrm>
          <a:custGeom>
            <a:avLst/>
            <a:gdLst/>
            <a:ahLst/>
            <a:cxnLst/>
            <a:rect l="l" t="t" r="r" b="b"/>
            <a:pathLst>
              <a:path w="13281788" h="1880227">
                <a:moveTo>
                  <a:pt x="0" y="0"/>
                </a:moveTo>
                <a:lnTo>
                  <a:pt x="13281788" y="0"/>
                </a:lnTo>
                <a:lnTo>
                  <a:pt x="13281788" y="1880227"/>
                </a:lnTo>
                <a:lnTo>
                  <a:pt x="0" y="18802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29" r="-574" b="-218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172871" y="946817"/>
            <a:ext cx="2258368" cy="50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rPr>
              <a:t>EVOASTRA</a:t>
            </a:r>
            <a:endParaRPr lang="en-US" sz="2800" b="1">
              <a:solidFill>
                <a:srgbClr val="FFFFFF"/>
              </a:solidFill>
              <a:latin typeface="Poppins Medium" panose="00000600000000000000"/>
              <a:ea typeface="Poppins Medium" panose="00000600000000000000"/>
              <a:cs typeface="Poppins Medium" panose="00000600000000000000"/>
              <a:sym typeface="Poppins Medium" panose="0000060000000000000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06912" y="716597"/>
            <a:ext cx="1000809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5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</a:t>
            </a:r>
            <a:r>
              <a:rPr lang="en-US" sz="5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sults: Efficiency Comparison</a:t>
            </a:r>
            <a:endParaRPr lang="en-US" sz="520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05880" y="5170079"/>
            <a:ext cx="13382820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0"/>
              </a:lnSpc>
            </a:pPr>
            <a:r>
              <a:rPr lang="en-US" sz="34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Conclusion</a:t>
            </a:r>
            <a:endParaRPr lang="en-US" sz="340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l">
              <a:lnSpc>
                <a:spcPts val="4760"/>
              </a:lnSpc>
            </a:pPr>
            <a:r>
              <a:rPr lang="en-US" sz="34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Web scraping is a transformative skill for </a:t>
            </a:r>
            <a:r>
              <a:rPr lang="en-US" sz="3400">
                <a:solidFill>
                  <a:srgbClr val="FFFFFF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data-driven decision-making. While it offers immense speed and scalability, it must be performed responsibly, respecting legal boundaries and website resources.</a:t>
            </a:r>
            <a:endParaRPr lang="en-US" sz="3400">
              <a:solidFill>
                <a:srgbClr val="FFFFFF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040257">
            <a:off x="480085" y="-321280"/>
            <a:ext cx="13508693" cy="13508693"/>
          </a:xfrm>
          <a:custGeom>
            <a:avLst/>
            <a:gdLst/>
            <a:ahLst/>
            <a:cxnLst/>
            <a:rect l="l" t="t" r="r" b="b"/>
            <a:pathLst>
              <a:path w="13508693" h="13508693">
                <a:moveTo>
                  <a:pt x="0" y="0"/>
                </a:moveTo>
                <a:lnTo>
                  <a:pt x="13508693" y="0"/>
                </a:lnTo>
                <a:lnTo>
                  <a:pt x="13508693" y="13508693"/>
                </a:lnTo>
                <a:lnTo>
                  <a:pt x="0" y="13508693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6779" t="-391" b="-6387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82820" y="312745"/>
            <a:ext cx="1790051" cy="1790051"/>
          </a:xfrm>
          <a:custGeom>
            <a:avLst/>
            <a:gdLst/>
            <a:ahLst/>
            <a:cxnLst/>
            <a:rect l="l" t="t" r="r" b="b"/>
            <a:pathLst>
              <a:path w="1790051" h="1790051">
                <a:moveTo>
                  <a:pt x="0" y="0"/>
                </a:moveTo>
                <a:lnTo>
                  <a:pt x="1790051" y="0"/>
                </a:lnTo>
                <a:lnTo>
                  <a:pt x="1790051" y="1790050"/>
                </a:lnTo>
                <a:lnTo>
                  <a:pt x="0" y="17900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5172871" y="946817"/>
            <a:ext cx="2258368" cy="509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  <a:r>
              <a:rPr lang="en-US" sz="2800" b="1">
                <a:solidFill>
                  <a:srgbClr val="FFFFFF"/>
                </a:solidFill>
                <a:latin typeface="Poppins Medium" panose="00000600000000000000"/>
                <a:ea typeface="Poppins Medium" panose="00000600000000000000"/>
                <a:cs typeface="Poppins Medium" panose="00000600000000000000"/>
                <a:sym typeface="Poppins Medium" panose="00000600000000000000"/>
              </a:rPr>
              <a:t>EVOASTRA</a:t>
            </a:r>
            <a:endParaRPr lang="en-US" sz="2800" b="1">
              <a:solidFill>
                <a:srgbClr val="FFFFFF"/>
              </a:solidFill>
              <a:latin typeface="Poppins Medium" panose="00000600000000000000"/>
              <a:ea typeface="Poppins Medium" panose="00000600000000000000"/>
              <a:cs typeface="Poppins Medium" panose="00000600000000000000"/>
              <a:sym typeface="Poppins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865837" y="2607983"/>
            <a:ext cx="6224588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FFFFFF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Thank you!</a:t>
            </a:r>
            <a:endParaRPr lang="en-US" sz="9200" b="1">
              <a:solidFill>
                <a:srgbClr val="FFFFFF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39238" y="4807569"/>
            <a:ext cx="9525" cy="548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2528</Words>
  <Application>WPS Presentation</Application>
  <PresentationFormat>On-screen Show (4:3)</PresentationFormat>
  <Paragraphs>87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Calibri (MS) Bold</vt:lpstr>
      <vt:lpstr>Calibri (MS)</vt:lpstr>
      <vt:lpstr>Arial</vt:lpstr>
      <vt:lpstr>Canva Sans Bold</vt:lpstr>
      <vt:lpstr>Poppins Medium</vt:lpstr>
      <vt:lpstr>Canva Sans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Implementation</dc:title>
  <dc:creator/>
  <cp:lastModifiedBy>WPS_1709645927</cp:lastModifiedBy>
  <cp:revision>2</cp:revision>
  <dcterms:created xsi:type="dcterms:W3CDTF">2006-08-16T00:00:00Z</dcterms:created>
  <dcterms:modified xsi:type="dcterms:W3CDTF">2025-12-02T17:17:50Z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F85BFB0556A04E77891896299FBE21F7_12</vt:lpwstr>
  </property>
  <property fmtid="{D5CDD505-2E9C-101B-9397-08002B2CF9AE}" pid="3" name="KSOProductBuildVer">
    <vt:lpwstr>1033-12.2.0.23155</vt:lpwstr>
  </property>
</Properties>
</file>